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HR</c:v>
                </c:pt>
              </c:strCache>
            </c:strRef>
          </c:tx>
          <c:spPr>
            <a:solidFill>
              <a:srgbClr val="02C39A"/>
            </a:solidFill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8p</c:v>
                  </c:pt>
                  <c:pt idx="1">
                    <c:v>9p</c:v>
                  </c:pt>
                  <c:pt idx="2">
                    <c:v>10p</c:v>
                  </c:pt>
                  <c:pt idx="3">
                    <c:v>11p</c:v>
                  </c:pt>
                  <c:pt idx="4">
                    <c:v>12a</c:v>
                  </c:pt>
                  <c:pt idx="5">
                    <c:v>1a</c:v>
                  </c:pt>
                  <c:pt idx="6">
                    <c:v>2a</c:v>
                  </c:pt>
                  <c:pt idx="7">
                    <c:v>3a</c:v>
                  </c:pt>
                  <c:pt idx="8">
                    <c:v>4a</c:v>
                  </c:pt>
                  <c:pt idx="9">
                    <c:v>5a</c:v>
                  </c:pt>
                  <c:pt idx="10">
                    <c:v>6a</c:v>
                  </c:pt>
                  <c:pt idx="11">
                    <c:v>7a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72</c:v>
                </c:pt>
                <c:pt idx="1">
                  <c:v>74</c:v>
                </c:pt>
                <c:pt idx="2">
                  <c:v>73</c:v>
                </c:pt>
                <c:pt idx="3">
                  <c:v>76</c:v>
                </c:pt>
                <c:pt idx="4">
                  <c:v>80</c:v>
                </c:pt>
                <c:pt idx="5">
                  <c:v>85</c:v>
                </c:pt>
                <c:pt idx="6">
                  <c:v>88</c:v>
                </c:pt>
                <c:pt idx="7">
                  <c:v>84</c:v>
                </c:pt>
                <c:pt idx="8">
                  <c:v>79</c:v>
                </c:pt>
                <c:pt idx="9">
                  <c:v>76</c:v>
                </c:pt>
                <c:pt idx="10">
                  <c:v>74</c:v>
                </c:pt>
                <c:pt idx="11">
                  <c:v>78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3515C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FC7C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51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3515C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FC7C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D4C56"/>
        </a:solidFill>
        <a:ln>
          <a:noFill/>
        </a:ln>
        <a:effectLst/>
      </c:spPr>
    </c:plotArea>
    <c:plotVisOnly val="1"/>
    <c:dispBlanksAs val="span"/>
  </c:chart>
  <c:spPr>
    <a:solidFill>
      <a:srgbClr val="1D4C5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pic>
        <p:nvPicPr>
          <p:cNvPr id="4" name="Image 0" descr="/home/claude/healthdash/icons/heartbeat_02C39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594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INTELLIGENCE, REIMAGINED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Health Dashboard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40080" y="36118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BB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unified, AI-powered view of patient vitals, trends, and risk — built to help care teams act sooner and patients understand more.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6F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PRODUCT &amp; CLINICAL REVIEW   •   JULY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data is everywhere — and nowhere useful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3FAF9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4231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healthdash/icons/lin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6060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3375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sources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84048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Vitals, labs, wearables, and notes live in separate systems that rarely talk to each other.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21031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3FAF9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24231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healthdash/icons/clipboar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6060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3375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09160" y="384048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spend hours reconciling charts instead of focusing on judgment and care.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21031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3FA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4231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healthdash/icons/bell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6060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3375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alerts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58200" y="384048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signs surface late because no one is watching every trend line, every hour.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5715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preventable readmissions, alert fatigue, and clinicians who trust their gut more than their software.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 DASHBOARD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F2B33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4572000" cy="45720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signal.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clarity.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B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Health Dashboard pulls vitals, labs, wearable streams, and clinical notes into one continuously-updated view, then layers AI on top to flag what matters.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758952"/>
            <a:ext cx="566928" cy="566928"/>
          </a:xfrm>
          <a:prstGeom prst="ellipse">
            <a:avLst/>
          </a:prstGeom>
          <a:solidFill>
            <a:srgbClr val="F3FAF9"/>
          </a:solidFill>
          <a:ln w="12700">
            <a:solidFill>
              <a:srgbClr val="E1EDEC"/>
            </a:solidFill>
            <a:prstDash val="solid"/>
          </a:ln>
        </p:spPr>
      </p:sp>
      <p:pic>
        <p:nvPicPr>
          <p:cNvPr id="8" name="Image 0" descr="/home/claude/healthdash/icons/cloud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89611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06440" y="66751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ingestion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806440" y="1033272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EHR, wearables, labs, and remote monitors sync automatically into one patient timeline.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0" y="2130552"/>
            <a:ext cx="566928" cy="566928"/>
          </a:xfrm>
          <a:prstGeom prst="ellipse">
            <a:avLst/>
          </a:prstGeom>
          <a:solidFill>
            <a:srgbClr val="F3FAF9"/>
          </a:solidFill>
          <a:ln w="12700">
            <a:solidFill>
              <a:srgbClr val="E1EDEC"/>
            </a:solidFill>
            <a:prstDash val="solid"/>
          </a:ln>
        </p:spPr>
      </p:sp>
      <p:pic>
        <p:nvPicPr>
          <p:cNvPr id="12" name="Image 1" descr="/home/claude/healthdash/icons/robot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26771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06440" y="203911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triage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806440" y="2404872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score risk continuously and surface the patients who need attention first.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029200" y="3502152"/>
            <a:ext cx="566928" cy="566928"/>
          </a:xfrm>
          <a:prstGeom prst="ellipse">
            <a:avLst/>
          </a:prstGeom>
          <a:solidFill>
            <a:srgbClr val="F3FAF9"/>
          </a:solidFill>
          <a:ln w="12700">
            <a:solidFill>
              <a:srgbClr val="E1EDEC"/>
            </a:solidFill>
            <a:prstDash val="solid"/>
          </a:ln>
        </p:spPr>
      </p:sp>
      <p:pic>
        <p:nvPicPr>
          <p:cNvPr id="16" name="Image 2" descr="/home/claude/healthdash/icons/chart_02809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363931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806440" y="341071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intelligence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806440" y="3776472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shown against its own baseline, not just a raw number in isolation.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029200" y="4873752"/>
            <a:ext cx="566928" cy="566928"/>
          </a:xfrm>
          <a:prstGeom prst="ellipse">
            <a:avLst/>
          </a:prstGeom>
          <a:solidFill>
            <a:srgbClr val="F3FAF9"/>
          </a:solidFill>
          <a:ln w="12700">
            <a:solidFill>
              <a:srgbClr val="E1EDEC"/>
            </a:solidFill>
            <a:prstDash val="solid"/>
          </a:ln>
        </p:spPr>
      </p:sp>
      <p:pic>
        <p:nvPicPr>
          <p:cNvPr id="20" name="Image 3" descr="/home/claude/healthdash/icons/mobile_02809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5010912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806440" y="478231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access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806440" y="5148072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live dashboard on desktop, tablet, or phone for rounds, home visits, or on call.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 DASHBOARD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how care teams actually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3FAF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488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healthdash/icons/heartbea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2951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889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vitals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1546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streams for heart rate, BP, SpO2, and respiration with auto-refresh.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87452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3FAF9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21488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healthdash/icons/brai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22951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7889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risk scores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63440" y="31546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models flag deterioration hours before traditional thresholds trip.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87452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3FA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0" y="21488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/home/claude/healthdash/icons/bell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22951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7889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12480" y="31546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and trend-based alerts tuned per patient to cut noise, not signal.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3434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3FAF9"/>
          </a:solidFill>
          <a:ln/>
        </p:spPr>
      </p:sp>
      <p:sp>
        <p:nvSpPr>
          <p:cNvPr id="20" name="Shape 15"/>
          <p:cNvSpPr/>
          <p:nvPr/>
        </p:nvSpPr>
        <p:spPr>
          <a:xfrm>
            <a:off x="914400" y="46177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/home/claude/healthdash/icons/walking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476402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52578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integration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4400" y="56235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Steps, sleep, and activity from consumer devices folded into the clinical picture.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9120" y="43434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3FAF9"/>
          </a:solidFill>
          <a:ln/>
        </p:spPr>
      </p:sp>
      <p:sp>
        <p:nvSpPr>
          <p:cNvPr id="25" name="Shape 19"/>
          <p:cNvSpPr/>
          <p:nvPr/>
        </p:nvSpPr>
        <p:spPr>
          <a:xfrm>
            <a:off x="4663440" y="46177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6" name="Image 4" descr="/home/claude/healthdash/icons/doctor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476402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63440" y="52578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team view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63440" y="56235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 so nurses, physicians, and admins see what's relevant to them.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43434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3FAF9"/>
          </a:solidFill>
          <a:ln/>
        </p:spPr>
      </p:sp>
      <p:sp>
        <p:nvSpPr>
          <p:cNvPr id="30" name="Shape 23"/>
          <p:cNvSpPr/>
          <p:nvPr/>
        </p:nvSpPr>
        <p:spPr>
          <a:xfrm>
            <a:off x="8412480" y="46177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1" name="Image 5" descr="/home/claude/healthdash/icons/shield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8784" y="476402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2480" y="52578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12480" y="56235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 and granular access controls aligned to HIPAA.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 DASHBOARD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care team sees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4572000"/>
          </a:xfrm>
          <a:prstGeom prst="roundRect">
            <a:avLst>
              <a:gd name="adj" fmla="val 1600"/>
            </a:avLst>
          </a:prstGeom>
          <a:solidFill>
            <a:srgbClr val="16414B"/>
          </a:solidFill>
          <a:ln w="12700">
            <a:solidFill>
              <a:srgbClr val="2351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20240"/>
            <a:ext cx="128016" cy="128016"/>
          </a:xfrm>
          <a:prstGeom prst="ellipse">
            <a:avLst/>
          </a:prstGeom>
          <a:solidFill>
            <a:srgbClr val="E8746A"/>
          </a:solidFill>
          <a:ln/>
        </p:spPr>
      </p:sp>
      <p:sp>
        <p:nvSpPr>
          <p:cNvPr id="6" name="Shape 4"/>
          <p:cNvSpPr/>
          <p:nvPr/>
        </p:nvSpPr>
        <p:spPr>
          <a:xfrm>
            <a:off x="1170432" y="1920240"/>
            <a:ext cx="128016" cy="128016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426464" y="1920240"/>
            <a:ext cx="128016" cy="128016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671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7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Patient: J. Alvarez  •  Room 214  •  Risk score: Moderate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6060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1D4C56"/>
          </a:solidFill>
          <a:ln/>
        </p:spPr>
      </p:sp>
      <p:pic>
        <p:nvPicPr>
          <p:cNvPr id="10" name="Image 0" descr="/home/claude/healthdash/icons/heartbeat_02C39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78892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27706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7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15568" y="31089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pPr indent="0" marL="0">
              <a:buNone/>
            </a:pPr>
            <a:r>
              <a:rPr lang="en-US" sz="1100" dirty="0">
                <a:solidFill>
                  <a:srgbClr val="9FC7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bpm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3035808" y="2788920"/>
            <a:ext cx="146304" cy="146304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14" name="Shape 11"/>
          <p:cNvSpPr/>
          <p:nvPr/>
        </p:nvSpPr>
        <p:spPr>
          <a:xfrm>
            <a:off x="3584448" y="26060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1D4C56"/>
          </a:solidFill>
          <a:ln/>
        </p:spPr>
      </p:sp>
      <p:pic>
        <p:nvPicPr>
          <p:cNvPr id="15" name="Image 1" descr="/home/claude/healthdash/icons/lungs_02C39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278892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33088" y="27706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7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785616" y="31089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pPr indent="0" marL="0">
              <a:buNone/>
            </a:pPr>
            <a:r>
              <a:rPr lang="en-US" sz="1100" dirty="0">
                <a:solidFill>
                  <a:srgbClr val="9FC7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5705856" y="2788920"/>
            <a:ext cx="146304" cy="14630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9" name="Shape 15"/>
          <p:cNvSpPr/>
          <p:nvPr/>
        </p:nvSpPr>
        <p:spPr>
          <a:xfrm>
            <a:off x="6254496" y="26060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1D4C56"/>
          </a:solidFill>
          <a:ln/>
        </p:spPr>
      </p:sp>
      <p:pic>
        <p:nvPicPr>
          <p:cNvPr id="20" name="Image 2" descr="/home/claude/healthdash/icons/tint_02C39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278892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03136" y="27706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7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455664" y="31089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128/82</a:t>
            </a:r>
            <a:pPr indent="0" marL="0">
              <a:buNone/>
            </a:pPr>
            <a:r>
              <a:rPr lang="en-US" sz="1100" dirty="0">
                <a:solidFill>
                  <a:srgbClr val="9FC7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mmHg</a:t>
            </a:r>
            <a:endParaRPr lang="en-US" sz="2400" dirty="0"/>
          </a:p>
        </p:txBody>
      </p:sp>
      <p:sp>
        <p:nvSpPr>
          <p:cNvPr id="23" name="Shape 18"/>
          <p:cNvSpPr/>
          <p:nvPr/>
        </p:nvSpPr>
        <p:spPr>
          <a:xfrm>
            <a:off x="8375904" y="2788920"/>
            <a:ext cx="146304" cy="146304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24" name="Shape 19"/>
          <p:cNvSpPr/>
          <p:nvPr/>
        </p:nvSpPr>
        <p:spPr>
          <a:xfrm>
            <a:off x="8924544" y="26060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1D4C56"/>
          </a:solidFill>
          <a:ln/>
        </p:spPr>
      </p:sp>
      <p:pic>
        <p:nvPicPr>
          <p:cNvPr id="25" name="Image 3" descr="/home/claude/healthdash/icons/bed_02C39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5712" y="278892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473184" y="27706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7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125712" y="31089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</a:t>
            </a:r>
            <a:pPr indent="0" marL="0">
              <a:buNone/>
            </a:pPr>
            <a:r>
              <a:rPr lang="en-US" sz="1100" dirty="0">
                <a:solidFill>
                  <a:srgbClr val="9FC7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hrs</a:t>
            </a:r>
            <a:endParaRPr lang="en-US" sz="2400" dirty="0"/>
          </a:p>
        </p:txBody>
      </p:sp>
      <p:sp>
        <p:nvSpPr>
          <p:cNvPr id="28" name="Shape 22"/>
          <p:cNvSpPr/>
          <p:nvPr/>
        </p:nvSpPr>
        <p:spPr>
          <a:xfrm>
            <a:off x="11045952" y="2788920"/>
            <a:ext cx="146304" cy="146304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29" name="Shape 23"/>
          <p:cNvSpPr/>
          <p:nvPr/>
        </p:nvSpPr>
        <p:spPr>
          <a:xfrm>
            <a:off x="914400" y="4206240"/>
            <a:ext cx="6858000" cy="1920240"/>
          </a:xfrm>
          <a:prstGeom prst="roundRect">
            <a:avLst>
              <a:gd name="adj" fmla="val 3810"/>
            </a:avLst>
          </a:prstGeom>
          <a:solidFill>
            <a:srgbClr val="1D4C56"/>
          </a:solidFill>
          <a:ln/>
        </p:spPr>
      </p:sp>
      <p:sp>
        <p:nvSpPr>
          <p:cNvPr id="30" name="Text 24"/>
          <p:cNvSpPr/>
          <p:nvPr/>
        </p:nvSpPr>
        <p:spPr>
          <a:xfrm>
            <a:off x="1143000" y="4343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— last 12 hours</a:t>
            </a:r>
            <a:endParaRPr lang="en-US" sz="115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1005840" y="4663440"/>
          <a:ext cx="667512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2" name="Shape 25"/>
          <p:cNvSpPr/>
          <p:nvPr/>
        </p:nvSpPr>
        <p:spPr>
          <a:xfrm>
            <a:off x="7955280" y="420624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1D4C56"/>
          </a:solidFill>
          <a:ln/>
        </p:spPr>
      </p:sp>
      <p:sp>
        <p:nvSpPr>
          <p:cNvPr id="33" name="Text 26"/>
          <p:cNvSpPr/>
          <p:nvPr/>
        </p:nvSpPr>
        <p:spPr>
          <a:xfrm>
            <a:off x="8183880" y="4343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8183880" y="47091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B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SpO2 trending down 3% over 2 hrs. Pattern matches early respiratory distress — recommend recheck.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F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 DASHBOARD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AI is actually doing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94360" cy="594360"/>
          </a:xfrm>
          <a:prstGeom prst="ellipse">
            <a:avLst/>
          </a:prstGeom>
          <a:solidFill>
            <a:srgbClr val="F3FAF9"/>
          </a:solidFill>
          <a:ln w="12700">
            <a:solidFill>
              <a:srgbClr val="E1EDEC"/>
            </a:solidFill>
            <a:prstDash val="solid"/>
          </a:ln>
        </p:spPr>
      </p:sp>
      <p:pic>
        <p:nvPicPr>
          <p:cNvPr id="5" name="Image 0" descr="/home/claude/healthdash/icons/brain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11226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202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26280" y="192024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and sequence models trained on longitudinal vitals forecast deterioration risk 6–12 hours ahead.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10881360" cy="0"/>
          </a:xfrm>
          <a:prstGeom prst="line">
            <a:avLst/>
          </a:prstGeom>
          <a:noFill/>
          <a:ln w="12700">
            <a:solidFill>
              <a:srgbClr val="E1ED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3017520"/>
            <a:ext cx="594360" cy="594360"/>
          </a:xfrm>
          <a:prstGeom prst="ellipse">
            <a:avLst/>
          </a:prstGeom>
          <a:solidFill>
            <a:srgbClr val="F3FAF9"/>
          </a:solidFill>
          <a:ln w="12700">
            <a:solidFill>
              <a:srgbClr val="E1EDEC"/>
            </a:solidFill>
            <a:prstDash val="solid"/>
          </a:ln>
        </p:spPr>
      </p:sp>
      <p:pic>
        <p:nvPicPr>
          <p:cNvPr id="10" name="Image 1" descr="/home/claude/healthdash/icons/chart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316382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971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26280" y="297180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Per-patient baselines mean the system flags what's unusual for this person — not a generic population threshold.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3886200"/>
            <a:ext cx="10881360" cy="0"/>
          </a:xfrm>
          <a:prstGeom prst="line">
            <a:avLst/>
          </a:prstGeom>
          <a:noFill/>
          <a:ln w="12700">
            <a:solidFill>
              <a:srgbClr val="E1ED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4069080"/>
            <a:ext cx="594360" cy="594360"/>
          </a:xfrm>
          <a:prstGeom prst="ellipse">
            <a:avLst/>
          </a:prstGeom>
          <a:solidFill>
            <a:srgbClr val="F3FAF9"/>
          </a:solidFill>
          <a:ln w="12700">
            <a:solidFill>
              <a:srgbClr val="E1EDEC"/>
            </a:solidFill>
            <a:prstDash val="solid"/>
          </a:ln>
        </p:spPr>
      </p:sp>
      <p:pic>
        <p:nvPicPr>
          <p:cNvPr id="15" name="Image 2" descr="/home/claude/healthdash/icons/clipboard_02809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215384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40233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summarization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526280" y="402336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notes are condensed into a running summary so history is scannable in seconds, not pages.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0080" y="4937760"/>
            <a:ext cx="10881360" cy="0"/>
          </a:xfrm>
          <a:prstGeom prst="line">
            <a:avLst/>
          </a:prstGeom>
          <a:noFill/>
          <a:ln w="12700">
            <a:solidFill>
              <a:srgbClr val="E1EDE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5120640"/>
            <a:ext cx="594360" cy="594360"/>
          </a:xfrm>
          <a:prstGeom prst="ellipse">
            <a:avLst/>
          </a:prstGeom>
          <a:solidFill>
            <a:srgbClr val="F3FAF9"/>
          </a:solidFill>
          <a:ln w="12700">
            <a:solidFill>
              <a:srgbClr val="E1EDEC"/>
            </a:solidFill>
            <a:prstDash val="solid"/>
          </a:ln>
        </p:spPr>
      </p:sp>
      <p:pic>
        <p:nvPicPr>
          <p:cNvPr id="20" name="Image 3" descr="/home/claude/healthdash/icons/robot_02809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5266944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50749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query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4526280" y="507492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"show me why this score changed" and get a plain-language, evidence-linked answer.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 DASHBOARD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signal to bedside decision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F3FAF9"/>
          </a:solidFill>
          <a:ln/>
        </p:spPr>
      </p:sp>
      <p:pic>
        <p:nvPicPr>
          <p:cNvPr id="5" name="Image 0" descr="/home/claude/healthdash/icons/cloud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172" y="245059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971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49808" y="3337560"/>
            <a:ext cx="1655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EHR, wearables, labs, device feeds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514600" y="2743200"/>
            <a:ext cx="37719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891790" y="219456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F3FAF9"/>
          </a:solidFill>
          <a:ln/>
        </p:spPr>
      </p:sp>
      <p:pic>
        <p:nvPicPr>
          <p:cNvPr id="10" name="Image 1" descr="/home/claude/healthdash/icons/shield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882" y="245059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83230" y="2971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normalize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001518" y="3337560"/>
            <a:ext cx="1655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de-identification, standard schema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766310" y="2743200"/>
            <a:ext cx="37719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143500" y="219456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/>
        </p:spPr>
      </p:sp>
      <p:pic>
        <p:nvPicPr>
          <p:cNvPr id="15" name="Image 2" descr="/home/claude/healthdash/icons/bra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245059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34940" y="2971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scoring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5253228" y="3337560"/>
            <a:ext cx="1655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models + anomaly detection run continuously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7018020" y="2743200"/>
            <a:ext cx="37719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7395210" y="219456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F3FAF9"/>
          </a:solidFill>
          <a:ln/>
        </p:spPr>
      </p:sp>
      <p:pic>
        <p:nvPicPr>
          <p:cNvPr id="20" name="Image 3" descr="/home/claude/healthdash/icons/chart_02809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1302" y="245059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86650" y="2971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7504938" y="3337560"/>
            <a:ext cx="1655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view, trends, and alerts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9269730" y="2743200"/>
            <a:ext cx="37719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9646920" y="219456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F3FAF9"/>
          </a:solidFill>
          <a:ln/>
        </p:spPr>
      </p:sp>
      <p:pic>
        <p:nvPicPr>
          <p:cNvPr id="25" name="Image 4" descr="/home/claude/healthdash/icons/doctor_02809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5059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738360" y="2971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action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9756648" y="3337560"/>
            <a:ext cx="1655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reviews, intervenes, documents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640080" y="4709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auditable — clinicians can trace any alert back to the raw data and the model logic behind it.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640080" y="5532120"/>
            <a:ext cx="1705356" cy="457200"/>
          </a:xfrm>
          <a:prstGeom prst="roundRect">
            <a:avLst>
              <a:gd name="adj" fmla="val 50000"/>
            </a:avLst>
          </a:prstGeom>
          <a:solidFill>
            <a:srgbClr val="F3FAF9"/>
          </a:solidFill>
          <a:ln w="12700">
            <a:solidFill>
              <a:srgbClr val="E1EDEC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640080" y="5532120"/>
            <a:ext cx="17053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HIPAA-aligned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2574036" y="5532120"/>
            <a:ext cx="1801368" cy="457200"/>
          </a:xfrm>
          <a:prstGeom prst="roundRect">
            <a:avLst>
              <a:gd name="adj" fmla="val 50000"/>
            </a:avLst>
          </a:prstGeom>
          <a:solidFill>
            <a:srgbClr val="F3FAF9"/>
          </a:solidFill>
          <a:ln w="12700">
            <a:solidFill>
              <a:srgbClr val="E1EDEC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2574036" y="5532120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controls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4604004" y="5532120"/>
            <a:ext cx="2089404" cy="457200"/>
          </a:xfrm>
          <a:prstGeom prst="roundRect">
            <a:avLst>
              <a:gd name="adj" fmla="val 50000"/>
            </a:avLst>
          </a:prstGeom>
          <a:solidFill>
            <a:srgbClr val="F3FAF9"/>
          </a:solidFill>
          <a:ln w="12700">
            <a:solidFill>
              <a:srgbClr val="E1EDEC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604004" y="5532120"/>
            <a:ext cx="20894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6922008" y="5532120"/>
            <a:ext cx="1993392" cy="457200"/>
          </a:xfrm>
          <a:prstGeom prst="roundRect">
            <a:avLst>
              <a:gd name="adj" fmla="val 50000"/>
            </a:avLst>
          </a:prstGeom>
          <a:solidFill>
            <a:srgbClr val="F3FAF9"/>
          </a:solidFill>
          <a:ln w="12700">
            <a:solidFill>
              <a:srgbClr val="E1EDEC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922008" y="553212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 DASHBOARD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IMPACT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caught earlier, care delivered faster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468880" cy="2468880"/>
          </a:xfrm>
          <a:prstGeom prst="roundRect">
            <a:avLst>
              <a:gd name="adj" fmla="val 3704"/>
            </a:avLst>
          </a:prstGeom>
          <a:solidFill>
            <a:srgbClr val="16414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6888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B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missed deterioration events in pilot units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2194560"/>
            <a:ext cx="2468880" cy="2468880"/>
          </a:xfrm>
          <a:prstGeom prst="roundRect">
            <a:avLst>
              <a:gd name="adj" fmla="val 3704"/>
            </a:avLst>
          </a:prstGeom>
          <a:solidFill>
            <a:srgbClr val="16414B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246888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2.4×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611880" y="34290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B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 from warning sign to clinician review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194560"/>
            <a:ext cx="2468880" cy="2468880"/>
          </a:xfrm>
          <a:prstGeom prst="roundRect">
            <a:avLst>
              <a:gd name="adj" fmla="val 3704"/>
            </a:avLst>
          </a:prstGeom>
          <a:solidFill>
            <a:srgbClr val="16414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46888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400800" y="34290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B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low-value alerts flagged as noise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06840" y="2194560"/>
            <a:ext cx="2468880" cy="2468880"/>
          </a:xfrm>
          <a:prstGeom prst="roundRect">
            <a:avLst>
              <a:gd name="adj" fmla="val 3704"/>
            </a:avLst>
          </a:prstGeom>
          <a:solidFill>
            <a:srgbClr val="16414B"/>
          </a:solidFill>
          <a:ln/>
        </p:spPr>
      </p:sp>
      <p:sp>
        <p:nvSpPr>
          <p:cNvPr id="15" name="Text 13"/>
          <p:cNvSpPr/>
          <p:nvPr/>
        </p:nvSpPr>
        <p:spPr>
          <a:xfrm>
            <a:off x="9189720" y="246888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9189720" y="34290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B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nurses said the dashboard changed how they prioritize rounds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074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 12-week pilot across 3 med-surg units, n=214 patients. Full methodology available on request.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F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 DASHBOARD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AF9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840480"/>
            <a:ext cx="4572000" cy="457200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pic>
        <p:nvPicPr>
          <p:cNvPr id="4" name="Image 0" descr="/home/claude/healthdash/icons/heartbeat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1945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bring every signal into one view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32004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 30-minute walkthrough with your clinical and IT leads to map the dashboard to your existing data sources.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4297680"/>
            <a:ext cx="2377440" cy="594360"/>
          </a:xfrm>
          <a:prstGeom prst="roundRect">
            <a:avLst>
              <a:gd name="adj" fmla="val 49231"/>
            </a:avLst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2976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demo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contact@aihealthdashboard.example  •  aihealthdashboard.example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2026-07-13T05:20:30Z</dcterms:created>
  <dcterms:modified xsi:type="dcterms:W3CDTF">2026-07-13T05:20:30Z</dcterms:modified>
</cp:coreProperties>
</file>